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d2d9f539d24915" /><Relationship Type="http://schemas.openxmlformats.org/officeDocument/2006/relationships/extended-properties" Target="/docProps/app.xml" Id="R6ea5fff018fa46e5" /><Relationship Type="http://schemas.openxmlformats.org/officeDocument/2006/relationships/officeDocument" Target="/ppt/presentation.xml" Id="Rdffb27dc819848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6a7c0fb8f04427"/>
  </p:sldMasterIdLst>
  <p:notesMasterIdLst>
    <p:notesMasterId xmlns:r="http://schemas.openxmlformats.org/officeDocument/2006/relationships" r:id="Rebf9006707a544e5"/>
  </p:notesMasterIdLst>
  <p:sldIdLst>
    <p:sldId xmlns:r="http://schemas.openxmlformats.org/officeDocument/2006/relationships" id="256" r:id="Rae2651852de746ee"/>
    <p:sldId xmlns:r="http://schemas.openxmlformats.org/officeDocument/2006/relationships" id="257" r:id="R4740b8d32bec4644"/>
    <p:sldId xmlns:r="http://schemas.openxmlformats.org/officeDocument/2006/relationships" id="258" r:id="R1b98e556350e4b6c"/>
    <p:sldId xmlns:r="http://schemas.openxmlformats.org/officeDocument/2006/relationships" id="259" r:id="R216f92426999429c"/>
    <p:sldId xmlns:r="http://schemas.openxmlformats.org/officeDocument/2006/relationships" id="260" r:id="Ra1fec2ad3bbe4f7b"/>
    <p:sldId xmlns:r="http://schemas.openxmlformats.org/officeDocument/2006/relationships" id="261" r:id="Rc9e40f57071b424e"/>
    <p:sldId xmlns:r="http://schemas.openxmlformats.org/officeDocument/2006/relationships" id="262" r:id="R2f569099f32545ce"/>
    <p:sldId xmlns:r="http://schemas.openxmlformats.org/officeDocument/2006/relationships" id="263" r:id="Rba6503c6595e4657"/>
    <p:sldId xmlns:r="http://schemas.openxmlformats.org/officeDocument/2006/relationships" id="264" r:id="Rd24276a8074d4a97"/>
    <p:sldId xmlns:r="http://schemas.openxmlformats.org/officeDocument/2006/relationships" id="265" r:id="R0acf7ff60a1d4e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b721b058b44a6c" /><Relationship Type="http://schemas.openxmlformats.org/officeDocument/2006/relationships/slideMaster" Target="/ppt/slideMasters/slideMaster1.xml" Id="R066a7c0fb8f04427" /><Relationship Type="http://schemas.openxmlformats.org/officeDocument/2006/relationships/notesMaster" Target="/ppt/notesMasters/notesMaster1.xml" Id="Rebf9006707a544e5" /><Relationship Type="http://schemas.openxmlformats.org/officeDocument/2006/relationships/presProps" Target="/ppt/presProps.xml" Id="R286405b914684672" /><Relationship Type="http://schemas.openxmlformats.org/officeDocument/2006/relationships/tableStyles" Target="/ppt/tableStyles.xml" Id="R35574e9dd7b64b0f" /><Relationship Type="http://schemas.openxmlformats.org/officeDocument/2006/relationships/slide" Target="/ppt/slides/slide1.xml" Id="Rae2651852de746ee" /><Relationship Type="http://schemas.openxmlformats.org/officeDocument/2006/relationships/slide" Target="/ppt/slides/slide2.xml" Id="R4740b8d32bec4644" /><Relationship Type="http://schemas.openxmlformats.org/officeDocument/2006/relationships/slide" Target="/ppt/slides/slide3.xml" Id="R1b98e556350e4b6c" /><Relationship Type="http://schemas.openxmlformats.org/officeDocument/2006/relationships/slide" Target="/ppt/slides/slide4.xml" Id="R216f92426999429c" /><Relationship Type="http://schemas.openxmlformats.org/officeDocument/2006/relationships/slide" Target="/ppt/slides/slide5.xml" Id="Ra1fec2ad3bbe4f7b" /><Relationship Type="http://schemas.openxmlformats.org/officeDocument/2006/relationships/slide" Target="/ppt/slides/slide6.xml" Id="Rc9e40f57071b424e" /><Relationship Type="http://schemas.openxmlformats.org/officeDocument/2006/relationships/slide" Target="/ppt/slides/slide7.xml" Id="R2f569099f32545ce" /><Relationship Type="http://schemas.openxmlformats.org/officeDocument/2006/relationships/slide" Target="/ppt/slides/slide8.xml" Id="Rba6503c6595e4657" /><Relationship Type="http://schemas.openxmlformats.org/officeDocument/2006/relationships/slide" Target="/ppt/slides/slide9.xml" Id="Rd24276a8074d4a97" /><Relationship Type="http://schemas.openxmlformats.org/officeDocument/2006/relationships/slide" Target="/ppt/slides/slide10.xml" Id="R0acf7ff60a1d4e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62886b31cd4e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47aa0585354edc" /><Relationship Type="http://schemas.openxmlformats.org/officeDocument/2006/relationships/notesMaster" Target="/ppt/notesMasters/notesMaster1.xml" Id="Rf910c1a113214d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7d7a2dc9d3429f" /><Relationship Type="http://schemas.openxmlformats.org/officeDocument/2006/relationships/notesMaster" Target="/ppt/notesMasters/notesMaster1.xml" Id="R4c3817ce1a004c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dd9ac4d0a24fb1" /><Relationship Type="http://schemas.openxmlformats.org/officeDocument/2006/relationships/notesMaster" Target="/ppt/notesMasters/notesMaster1.xml" Id="Re401f561bc6e4a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a32c468b024280" /><Relationship Type="http://schemas.openxmlformats.org/officeDocument/2006/relationships/notesMaster" Target="/ppt/notesMasters/notesMaster1.xml" Id="R2128bd79852e47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b4e014152145ef" /><Relationship Type="http://schemas.openxmlformats.org/officeDocument/2006/relationships/notesMaster" Target="/ppt/notesMasters/notesMaster1.xml" Id="Reff4821574db4c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e34e6424fc428e" /><Relationship Type="http://schemas.openxmlformats.org/officeDocument/2006/relationships/notesMaster" Target="/ppt/notesMasters/notesMaster1.xml" Id="R851308b2613f42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b59e6831ad4664" /><Relationship Type="http://schemas.openxmlformats.org/officeDocument/2006/relationships/notesMaster" Target="/ppt/notesMasters/notesMaster1.xml" Id="R72b5ca29521d45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ace6e58c2f4653" /><Relationship Type="http://schemas.openxmlformats.org/officeDocument/2006/relationships/notesMaster" Target="/ppt/notesMasters/notesMaster1.xml" Id="R3740b2ca455643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04624bf05d493a" /><Relationship Type="http://schemas.openxmlformats.org/officeDocument/2006/relationships/notesMaster" Target="/ppt/notesMasters/notesMaster1.xml" Id="R15eadf66a1cc4b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9523e273004570" /><Relationship Type="http://schemas.openxmlformats.org/officeDocument/2006/relationships/notesMaster" Target="/ppt/notesMasters/notesMaster1.xml" Id="R6c66c749393e4f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5b3ee24154c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18eee9696a4c60" /><Relationship Type="http://schemas.openxmlformats.org/officeDocument/2006/relationships/slideLayout" Target="/ppt/slideLayouts/slideLayout1.xml" Id="R622315c0fb9d46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2315c0fb9d46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ae33329a04ca6" /><Relationship Type="http://schemas.openxmlformats.org/officeDocument/2006/relationships/image" Target="/ppt/media/image.png" Id="Re4508e643dba4018" /><Relationship Type="http://schemas.openxmlformats.org/officeDocument/2006/relationships/notesSlide" Target="/ppt/notesSlides/notesSlide1.xml" Id="Re908037986d243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800ae0cc24bfa" /><Relationship Type="http://schemas.openxmlformats.org/officeDocument/2006/relationships/notesSlide" Target="/ppt/notesSlides/notesSlide2.xml" Id="R1303810a68e64f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91efad9654574" /><Relationship Type="http://schemas.openxmlformats.org/officeDocument/2006/relationships/notesSlide" Target="/ppt/notesSlides/notesSlide3.xml" Id="Rb2829fcf5af54b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db786582540c4" /><Relationship Type="http://schemas.openxmlformats.org/officeDocument/2006/relationships/notesSlide" Target="/ppt/notesSlides/notesSlide4.xml" Id="Rb26cf2983ac049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1b33b6c4944d8" /><Relationship Type="http://schemas.openxmlformats.org/officeDocument/2006/relationships/image" Target="/ppt/media/image2.png" Id="Rce7af65fc05e436c" /><Relationship Type="http://schemas.openxmlformats.org/officeDocument/2006/relationships/image" Target="/ppt/media/image3.png" Id="R4089ad8fc60a4b19" /><Relationship Type="http://schemas.openxmlformats.org/officeDocument/2006/relationships/notesSlide" Target="/ppt/notesSlides/notesSlide5.xml" Id="R9065c07289d64a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fede393f5496c" /><Relationship Type="http://schemas.openxmlformats.org/officeDocument/2006/relationships/image" Target="/ppt/media/image4.png" Id="R9d963bf739c94d12" /><Relationship Type="http://schemas.openxmlformats.org/officeDocument/2006/relationships/notesSlide" Target="/ppt/notesSlides/notesSlide6.xml" Id="R933620ec7f2944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90f6e57e446d3" /><Relationship Type="http://schemas.openxmlformats.org/officeDocument/2006/relationships/notesSlide" Target="/ppt/notesSlides/notesSlide7.xml" Id="R4d93e715533643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ecd2e77994d04" /><Relationship Type="http://schemas.openxmlformats.org/officeDocument/2006/relationships/notesSlide" Target="/ppt/notesSlides/notesSlide8.xml" Id="R2abdb13345874b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7bdee66bf4ade" /><Relationship Type="http://schemas.openxmlformats.org/officeDocument/2006/relationships/notesSlide" Target="/ppt/notesSlides/notesSlide9.xml" Id="Rb93b47d4948446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b967fea794c3c" /><Relationship Type="http://schemas.openxmlformats.org/officeDocument/2006/relationships/notesSlide" Target="/ppt/notesSlides/notesSlide10.xml" Id="R13409e7611fb4c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3BDB0-5898-4EB0-92E2-03DF952B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8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9D0C0-C6C4-48F0-8BC0-6CE1BF3C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A861"/>
                </a:solidFill>
              </a:defRPr>
            </a:pPr>
            <a:r>
              <a:rPr sz="1875" b="1">
                <a:solidFill>
                  <a:srgbClr val="10A861"/>
                </a:solidFill>
              </a:rPr>
              <a:t>PayEase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BA0B2-A241-4BC6-9F39-3C1131C3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2C29"/>
                </a:solidFill>
              </a:defRPr>
            </a:pPr>
            <a:r>
              <a:rPr sz="3750" b="1">
                <a:solidFill>
                  <a:srgbClr val="0E2C29"/>
                </a:solidFill>
              </a:rPr>
              <a:t>面向柬埔寨受薪员工的</a:t>
            </a:r>
          </a:p>
          <a:p xmlns:a="http://schemas.openxmlformats.org/drawingml/2006/main">
            <a:pPr algn="l">
              <a:defRPr sz="3750" b="1">
                <a:solidFill>
                  <a:srgbClr val="0E2C29"/>
                </a:solidFill>
              </a:defRPr>
            </a:pPr>
            <a:r>
              <a:rPr sz="3750" b="1">
                <a:solidFill>
                  <a:srgbClr val="0E2C29"/>
                </a:solidFill>
              </a:rPr>
              <a:t>合规薪资贷协同平台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A2D3A-6977-4FEC-9766-2F1C99E7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706B"/>
                </a:solidFill>
              </a:defRPr>
            </a:pPr>
            <a:r>
              <a:rPr sz="1725" b="0">
                <a:solidFill>
                  <a:srgbClr val="55706B"/>
                </a:solidFill>
              </a:rPr>
              <a:t>用 Telegram 降低用户门槛；以企业核验提升信息质量；</a:t>
            </a:r>
          </a:p>
          <a:p xmlns:a="http://schemas.openxmlformats.org/drawingml/2006/main">
            <a:pPr algn="l">
              <a:defRPr sz="1725" b="0">
                <a:solidFill>
                  <a:srgbClr val="55706B"/>
                </a:solidFill>
              </a:defRPr>
            </a:pPr>
            <a:r>
              <a:rPr sz="1725" b="0">
                <a:solidFill>
                  <a:srgbClr val="55706B"/>
                </a:solidFill>
              </a:rPr>
              <a:t>由持牌机构独立完成授信、合同、放款与贷后。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00B7F-9B5F-42C8-9329-35B3DB0A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4095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F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7397D-CD56-487B-B26E-B05E03D2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861"/>
                </a:solidFill>
              </a:defRPr>
            </a:pPr>
            <a:r>
              <a:rPr sz="1125" b="1">
                <a:solidFill>
                  <a:srgbClr val="10A861"/>
                </a:solidFill>
              </a:rPr>
              <a:t>当前定位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8C2D5-3492-4656-ABF7-031947F3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48225"/>
            <a:ext cx="3476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C29"/>
                </a:solidFill>
              </a:defRPr>
            </a:pPr>
            <a:r>
              <a:rPr sz="1350" b="1">
                <a:solidFill>
                  <a:srgbClr val="0E2C29"/>
                </a:solidFill>
              </a:rPr>
              <a:t>单国受控试点｜人工审核与人工资金操作优先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08e643dba4018"/>
          <a:stretch xmlns:a="http://schemas.openxmlformats.org/drawingml/2006/main"/>
        </p:blipFill>
        <p:spPr>
          <a:xfrm xmlns:a="http://schemas.openxmlformats.org/drawingml/2006/main">
            <a:off x="7791997" y="523875"/>
            <a:ext cx="2513506" cy="561975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5BF7C-C90D-4669-85FA-300C127C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706B"/>
                </a:solidFill>
              </a:defRPr>
            </a:pPr>
            <a:r>
              <a:rPr sz="1050" b="0">
                <a:solidFill>
                  <a:srgbClr val="55706B"/>
                </a:solidFill>
              </a:rPr>
              <a:t>投资方核心业务流程</a:t>
            </a:r>
          </a:p>
        </p:txBody>
      </p:sp>
    </p:spTree>
    <p:extLst>
      <p:ext uri="{BB962C8B-B14F-4D97-AF65-F5344CB8AC3E}">
        <p14:creationId xmlns:p14="http://schemas.microsoft.com/office/powerpoint/2010/main" val="2145389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CFF129-5CDA-4804-BA0D-655457C6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861"/>
                </a:solidFill>
              </a:defRPr>
            </a:pPr>
            <a:r>
              <a:rPr sz="975" b="1">
                <a:solidFill>
                  <a:srgbClr val="10A861"/>
                </a:solidFill>
              </a:rPr>
              <a:t>01｜机会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C84C6-4AE6-47FB-992C-B9AF4A03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E2C29"/>
                </a:solidFill>
              </a:defRPr>
            </a:pPr>
            <a:r>
              <a:rPr sz="2625" b="1">
                <a:solidFill>
                  <a:srgbClr val="0E2C29"/>
                </a:solidFill>
              </a:rPr>
              <a:t>把“薪资到账前的资金周转”变成可核验、可追溯的服务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6EBC8-5869-4F06-AF45-3CE01897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6B"/>
                </a:solidFill>
              </a:defRPr>
            </a:pPr>
            <a:r>
              <a:rPr sz="1350" b="0">
                <a:solidFill>
                  <a:srgbClr val="55706B"/>
                </a:solidFill>
              </a:rPr>
              <a:t>不以平台自营资金为前提，而是把用户、企业和持牌机构放在各自清晰的责任边界内。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E85C2-E9FE-4E7E-9BE7-05B9EA7B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143E2-FD2D-4334-9B6A-08A2C646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6B"/>
                </a:solidFill>
              </a:defRPr>
            </a:pPr>
            <a:r>
              <a:rPr sz="825" b="0">
                <a:solidFill>
                  <a:srgbClr val="55706B"/>
                </a:solidFill>
              </a:rPr>
              <a:t>PayEase｜投资方核心业务流程｜内部材料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71476-0132-4D3D-B398-1D4FE348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6B"/>
                </a:solidFill>
              </a:defRPr>
            </a:pPr>
            <a:r>
              <a:rPr sz="825" b="1">
                <a:solidFill>
                  <a:srgbClr val="55706B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2903D-8576-4A51-9BE5-AB320F7A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304800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E16DE-A230-49E6-8D2D-9B22AC9B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2C29"/>
                </a:solidFill>
              </a:defRPr>
            </a:pPr>
            <a:r>
              <a:rPr sz="1800" b="1">
                <a:solidFill>
                  <a:srgbClr val="0E2C29"/>
                </a:solidFill>
              </a:rPr>
              <a:t>用户侧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02860-5D57-41FB-83CD-393A5C50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706B"/>
                </a:solidFill>
              </a:defRPr>
            </a:pPr>
            <a:r>
              <a:rPr sz="1500" b="0">
                <a:solidFill>
                  <a:srgbClr val="55706B"/>
                </a:solidFill>
              </a:rPr>
              <a:t>在熟悉的 Telegram 内发起申请</a:t>
            </a:r>
          </a:p>
          <a:p xmlns:a="http://schemas.openxmlformats.org/drawingml/2006/main">
            <a:pPr algn="l">
              <a:defRPr sz="1500" b="0">
                <a:solidFill>
                  <a:srgbClr val="55706B"/>
                </a:solidFill>
              </a:defRPr>
            </a:pPr>
            <a:r>
              <a:rPr sz="1500" b="0">
                <a:solidFill>
                  <a:srgbClr val="55706B"/>
                </a:solidFill>
              </a:rPr>
              <a:t>无需安装独立 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DCCDC-568B-4BBE-B588-6CBD9D29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A861"/>
                </a:solidFill>
              </a:defRPr>
            </a:pPr>
            <a:r>
              <a:rPr sz="1200" b="1">
                <a:solidFill>
                  <a:srgbClr val="10A861"/>
                </a:solidFill>
              </a:rPr>
              <a:t>低门槛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44E2F-F368-4FC2-A4DD-44C5FA81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304800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6F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E8DE7-64A0-4623-8513-64BA6FAC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2C29"/>
                </a:solidFill>
              </a:defRPr>
            </a:pPr>
            <a:r>
              <a:rPr sz="1800" b="1">
                <a:solidFill>
                  <a:srgbClr val="0E2C29"/>
                </a:solidFill>
              </a:rPr>
              <a:t>企业侧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F7626-81BD-4EDD-AE8F-BDBBDE3C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52750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706B"/>
                </a:solidFill>
              </a:defRPr>
            </a:pPr>
            <a:r>
              <a:rPr sz="1500" b="0">
                <a:solidFill>
                  <a:srgbClr val="55706B"/>
                </a:solidFill>
              </a:rPr>
              <a:t>仅核验员工授权范围内的</a:t>
            </a:r>
          </a:p>
          <a:p xmlns:a="http://schemas.openxmlformats.org/drawingml/2006/main">
            <a:pPr algn="l">
              <a:defRPr sz="1500" b="0">
                <a:solidFill>
                  <a:srgbClr val="55706B"/>
                </a:solidFill>
              </a:defRPr>
            </a:pPr>
            <a:r>
              <a:rPr sz="1500" b="0">
                <a:solidFill>
                  <a:srgbClr val="55706B"/>
                </a:solidFill>
              </a:rPr>
              <a:t>在职与薪资结论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8468D-378C-40BB-8B9D-9A9143F9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433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A861"/>
                </a:solidFill>
              </a:defRPr>
            </a:pPr>
            <a:r>
              <a:rPr sz="1200" b="1">
                <a:solidFill>
                  <a:srgbClr val="10A861"/>
                </a:solidFill>
              </a:rPr>
              <a:t>低摩擦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962AF-AC14-4AD4-A7D8-D2EB108B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90750"/>
            <a:ext cx="304800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19F4C-B006-4B69-BC1F-3536BDFF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2C29"/>
                </a:solidFill>
              </a:defRPr>
            </a:pPr>
            <a:r>
              <a:rPr sz="1800" b="1">
                <a:solidFill>
                  <a:srgbClr val="0E2C29"/>
                </a:solidFill>
              </a:rPr>
              <a:t>机构侧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C7DCD-4422-461E-9415-5A131B0F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52750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706B"/>
                </a:solidFill>
              </a:defRPr>
            </a:pPr>
            <a:r>
              <a:rPr sz="1500" b="0">
                <a:solidFill>
                  <a:srgbClr val="55706B"/>
                </a:solidFill>
              </a:rPr>
              <a:t>获得结构化申请资料与</a:t>
            </a:r>
          </a:p>
          <a:p xmlns:a="http://schemas.openxmlformats.org/drawingml/2006/main">
            <a:pPr algn="l">
              <a:defRPr sz="1500" b="0">
                <a:solidFill>
                  <a:srgbClr val="55706B"/>
                </a:solidFill>
              </a:defRPr>
            </a:pPr>
            <a:r>
              <a:rPr sz="1500" b="0">
                <a:solidFill>
                  <a:srgbClr val="55706B"/>
                </a:solidFill>
              </a:rPr>
              <a:t>可回溯的核验链路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D2100-176E-470A-BDDB-F0E12993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433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A861"/>
                </a:solidFill>
              </a:defRPr>
            </a:pPr>
            <a:r>
              <a:rPr sz="1200" b="1">
                <a:solidFill>
                  <a:srgbClr val="10A861"/>
                </a:solidFill>
              </a:rPr>
              <a:t>可审计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289AD8-DFCF-4238-9A0F-11997C5F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2C29"/>
                </a:solidFill>
              </a:defRPr>
            </a:pPr>
            <a:r>
              <a:rPr sz="1800" b="1">
                <a:solidFill>
                  <a:srgbClr val="0E2C29"/>
                </a:solidFill>
              </a:rPr>
              <a:t>核心价值：把“获客—核验—机构决策—贷后服务”连成一条有授权、有留痕的业务链。</a:t>
            </a:r>
          </a:p>
        </p:txBody>
      </p:sp>
    </p:spTree>
    <p:extLst>
      <p:ext uri="{BB962C8B-B14F-4D97-AF65-F5344CB8AC3E}">
        <p14:creationId xmlns:p14="http://schemas.microsoft.com/office/powerpoint/2010/main" val="12757382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5B2D48-F431-4DDF-8996-7373FB2B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861"/>
                </a:solidFill>
              </a:defRPr>
            </a:pPr>
            <a:r>
              <a:rPr sz="975" b="1">
                <a:solidFill>
                  <a:srgbClr val="10A861"/>
                </a:solidFill>
              </a:rPr>
              <a:t>02｜责任边界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7E8FC-B374-48C7-855A-65ACD11A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E2C29"/>
                </a:solidFill>
              </a:defRPr>
            </a:pPr>
            <a:r>
              <a:rPr sz="2625" b="1">
                <a:solidFill>
                  <a:srgbClr val="0E2C29"/>
                </a:solidFill>
              </a:rPr>
              <a:t>四方协同：平台做流程，持牌机构做信贷决策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A04F0-3573-4504-AB43-159C0E39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6B"/>
                </a:solidFill>
              </a:defRPr>
            </a:pPr>
            <a:r>
              <a:rPr sz="1350" b="0">
                <a:solidFill>
                  <a:srgbClr val="55706B"/>
                </a:solidFill>
              </a:rPr>
              <a:t>这使平台能够在扩大触达的同时，避免越过资金与授信边界。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A5729-00D0-4941-840D-49959B3E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A7DA9-729A-4B14-97D6-D11D268A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6B"/>
                </a:solidFill>
              </a:defRPr>
            </a:pPr>
            <a:r>
              <a:rPr sz="825" b="0">
                <a:solidFill>
                  <a:srgbClr val="55706B"/>
                </a:solidFill>
              </a:rPr>
              <a:t>PayEase｜投资方核心业务流程｜内部材料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B6DD5-A4CA-405C-B3E8-77B2DC79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6B"/>
                </a:solidFill>
              </a:defRPr>
            </a:pPr>
            <a:r>
              <a:rPr sz="825" b="1">
                <a:solidFill>
                  <a:srgbClr val="55706B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2D31D-3A01-4038-BEE6-C9F1A7A3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2381250" cy="261937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266C9-30B6-422A-B37F-73EC3EFE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49B19-9C82-4476-A27F-623412B9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861"/>
                </a:solidFill>
              </a:defRPr>
            </a:pPr>
            <a:r>
              <a:rPr sz="1500" b="1">
                <a:solidFill>
                  <a:srgbClr val="10A861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64C3E-99E3-474B-AC18-191D5B64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C29"/>
                </a:solidFill>
              </a:defRPr>
            </a:pPr>
            <a:r>
              <a:rPr sz="1650" b="1">
                <a:solidFill>
                  <a:srgbClr val="0E2C29"/>
                </a:solidFill>
              </a:rPr>
              <a:t>员工用户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B64EC-5684-4DF0-A1D0-14163995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95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6B"/>
                </a:solidFill>
              </a:defRPr>
            </a:pPr>
            <a:r>
              <a:rPr sz="1275" b="0">
                <a:solidFill>
                  <a:srgbClr val="55706B"/>
                </a:solidFill>
              </a:rPr>
              <a:t>申请、授权、签约、</a:t>
            </a:r>
          </a:p>
          <a:p xmlns:a="http://schemas.openxmlformats.org/drawingml/2006/main">
            <a:pPr algn="l">
              <a:defRPr sz="1275" b="0">
                <a:solidFill>
                  <a:srgbClr val="55706B"/>
                </a:solidFill>
              </a:defRPr>
            </a:pPr>
            <a:r>
              <a:rPr sz="1275" b="0">
                <a:solidFill>
                  <a:srgbClr val="55706B"/>
                </a:solidFill>
              </a:rPr>
              <a:t>查看账单与还款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646A3-1285-48D6-A75C-AA17152E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2381250" cy="261937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61CAE-FA8A-43B6-98B4-84A5DA03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748E4-7A52-4B3E-9936-FBDF6828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574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861"/>
                </a:solidFill>
              </a:defRPr>
            </a:pPr>
            <a:r>
              <a:rPr sz="1500" b="1">
                <a:solidFill>
                  <a:srgbClr val="10A861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544B6-BCB1-4E7B-BCCD-03329777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051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C29"/>
                </a:solidFill>
              </a:defRPr>
            </a:pPr>
            <a:r>
              <a:rPr sz="1650" b="1">
                <a:solidFill>
                  <a:srgbClr val="0E2C29"/>
                </a:solidFill>
              </a:rPr>
              <a:t>企业 HR/财务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24D81-85B2-4405-977F-CDCF91BA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14750"/>
            <a:ext cx="195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6B"/>
                </a:solidFill>
              </a:defRPr>
            </a:pPr>
            <a:r>
              <a:rPr sz="1275" b="0">
                <a:solidFill>
                  <a:srgbClr val="55706B"/>
                </a:solidFill>
              </a:rPr>
              <a:t>核验在职/薪资结论</a:t>
            </a:r>
          </a:p>
          <a:p xmlns:a="http://schemas.openxmlformats.org/drawingml/2006/main">
            <a:pPr algn="l">
              <a:defRPr sz="1275" b="0">
                <a:solidFill>
                  <a:srgbClr val="55706B"/>
                </a:solidFill>
              </a:defRPr>
            </a:pPr>
            <a:r>
              <a:rPr sz="1275" b="0">
                <a:solidFill>
                  <a:srgbClr val="55706B"/>
                </a:solidFill>
              </a:rPr>
              <a:t>处理异议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E8944-926C-4B46-9833-6066EF4E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2381250" cy="261937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F9DF57-80D2-40D3-A2DC-593B8551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812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63500F-6EA3-4A2A-8065-1BF8D1E9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861"/>
                </a:solidFill>
              </a:defRPr>
            </a:pPr>
            <a:r>
              <a:rPr sz="1500" b="1">
                <a:solidFill>
                  <a:srgbClr val="10A861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D6C495-BD8E-4B0E-BC71-C9319FDB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051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C29"/>
                </a:solidFill>
              </a:defRPr>
            </a:pPr>
            <a:r>
              <a:rPr sz="1650" b="1">
                <a:solidFill>
                  <a:srgbClr val="0E2C29"/>
                </a:solidFill>
              </a:rPr>
              <a:t>PayEase 助贷平台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257E97-13E0-43AD-B548-30206764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195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6B"/>
                </a:solidFill>
              </a:defRPr>
            </a:pPr>
            <a:r>
              <a:rPr sz="1275" b="0">
                <a:solidFill>
                  <a:srgbClr val="55706B"/>
                </a:solidFill>
              </a:rPr>
              <a:t>资料完整性、流程协调、</a:t>
            </a:r>
          </a:p>
          <a:p xmlns:a="http://schemas.openxmlformats.org/drawingml/2006/main">
            <a:pPr algn="l">
              <a:defRPr sz="1275" b="0">
                <a:solidFill>
                  <a:srgbClr val="55706B"/>
                </a:solidFill>
              </a:defRPr>
            </a:pPr>
            <a:r>
              <a:rPr sz="1275" b="0">
                <a:solidFill>
                  <a:srgbClr val="55706B"/>
                </a:solidFill>
              </a:rPr>
              <a:t>通知、客服与审计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CF65C7-D72E-42D1-A2D0-26BF4CF0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90750"/>
            <a:ext cx="2381250" cy="261937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6EDF35-7FF6-494C-95F8-E3F9BDBB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812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A8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08A451-91C7-4C3F-AFDB-6DB207D4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BE3CC5-54BA-455C-BE15-8ECD228A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051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C29"/>
                </a:solidFill>
              </a:defRPr>
            </a:pPr>
            <a:r>
              <a:rPr sz="1650" b="1">
                <a:solidFill>
                  <a:srgbClr val="0E2C29"/>
                </a:solidFill>
              </a:rPr>
              <a:t>持牌机构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79E735-F7CE-4530-848F-EF9279F5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14750"/>
            <a:ext cx="195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6B"/>
                </a:solidFill>
              </a:defRPr>
            </a:pPr>
            <a:r>
              <a:rPr sz="1275" b="0">
                <a:solidFill>
                  <a:srgbClr val="55706B"/>
                </a:solidFill>
              </a:rPr>
              <a:t>KYC/AML、授信定价、</a:t>
            </a:r>
          </a:p>
          <a:p xmlns:a="http://schemas.openxmlformats.org/drawingml/2006/main">
            <a:pPr algn="l">
              <a:defRPr sz="1275" b="0">
                <a:solidFill>
                  <a:srgbClr val="55706B"/>
                </a:solidFill>
              </a:defRPr>
            </a:pPr>
            <a:r>
              <a:rPr sz="1275" b="0">
                <a:solidFill>
                  <a:srgbClr val="55706B"/>
                </a:solidFill>
              </a:rPr>
              <a:t>合同、放款、催收与投诉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B23997-C621-48E8-8F1E-F6CBBD96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A861"/>
                </a:solidFill>
              </a:defRPr>
            </a:pPr>
            <a:r>
              <a:rPr sz="1650" b="1">
                <a:solidFill>
                  <a:srgbClr val="10A861"/>
                </a:solidFill>
              </a:rPr>
              <a:t>关键原则：助贷平台不自营资金池，不做最终授信、定价或放款决策。</a:t>
            </a:r>
          </a:p>
        </p:txBody>
      </p:sp>
    </p:spTree>
    <p:extLst>
      <p:ext uri="{BB962C8B-B14F-4D97-AF65-F5344CB8AC3E}">
        <p14:creationId xmlns:p14="http://schemas.microsoft.com/office/powerpoint/2010/main" val="2030926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7E812F-DB39-4929-BF80-B7A6DCDF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861"/>
                </a:solidFill>
              </a:defRPr>
            </a:pPr>
            <a:r>
              <a:rPr sz="975" b="1">
                <a:solidFill>
                  <a:srgbClr val="10A861"/>
                </a:solidFill>
              </a:rPr>
              <a:t>03｜核心业务流程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C3A5B-F9EE-46AA-A854-36ECFA36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E2C29"/>
                </a:solidFill>
              </a:defRPr>
            </a:pPr>
            <a:r>
              <a:rPr sz="2625" b="1">
                <a:solidFill>
                  <a:srgbClr val="0E2C29"/>
                </a:solidFill>
              </a:rPr>
              <a:t>一笔交易从申请到还款，形成八步闭环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B1465-4877-447B-922B-CB2C35A9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6B"/>
                </a:solidFill>
              </a:defRPr>
            </a:pPr>
            <a:r>
              <a:rPr sz="1350" b="0">
                <a:solidFill>
                  <a:srgbClr val="55706B"/>
                </a:solidFill>
              </a:rPr>
              <a:t>用户每一步都知道当前状态；持牌机构始终保留信贷决策权。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322B1-6F9B-4A15-A5B5-59156F9E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118D5-863A-44C4-9A6B-1C0B8523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6B"/>
                </a:solidFill>
              </a:defRPr>
            </a:pPr>
            <a:r>
              <a:rPr sz="825" b="0">
                <a:solidFill>
                  <a:srgbClr val="55706B"/>
                </a:solidFill>
              </a:rPr>
              <a:t>PayEase｜投资方核心业务流程｜内部材料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C0756-CAC7-41EE-B565-ADC135A5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6B"/>
                </a:solidFill>
              </a:defRPr>
            </a:pPr>
            <a:r>
              <a:rPr sz="825" b="1">
                <a:solidFill>
                  <a:srgbClr val="55706B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4F10C-3C7C-45DC-BFD5-5518E5C2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10096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E2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8DE1F-4786-4EEE-AF8B-4C05F845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D319E-C968-4AE9-9379-8D0E3DB0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A861"/>
                </a:solidFill>
              </a:defRPr>
            </a:pPr>
            <a:r>
              <a:rPr sz="1200" b="1">
                <a:solidFill>
                  <a:srgbClr val="10A861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A19E3-F80A-4588-B76E-117DCD53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004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2C29"/>
                </a:solidFill>
              </a:defRPr>
            </a:pPr>
            <a:r>
              <a:rPr sz="1050" b="1">
                <a:solidFill>
                  <a:srgbClr val="0E2C29"/>
                </a:solidFill>
              </a:rPr>
              <a:t>Telegram</a:t>
            </a:r>
          </a:p>
          <a:p xmlns:a="http://schemas.openxmlformats.org/drawingml/2006/main">
            <a:pPr algn="ctr">
              <a:defRPr sz="1050" b="1">
                <a:solidFill>
                  <a:srgbClr val="0E2C29"/>
                </a:solidFill>
              </a:defRPr>
            </a:pPr>
            <a:r>
              <a:rPr sz="1050" b="1">
                <a:solidFill>
                  <a:srgbClr val="0E2C29"/>
                </a:solidFill>
              </a:rPr>
              <a:t>登录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8408D-D1AE-49C4-9CE6-A9D8F85C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352800"/>
            <a:ext cx="10096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E2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D3744-790F-49A7-8F57-E30F0BF3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813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27421-0A34-461E-828F-B507048E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908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A861"/>
                </a:solidFill>
              </a:defRPr>
            </a:pPr>
            <a:r>
              <a:rPr sz="1200" b="1">
                <a:solidFill>
                  <a:srgbClr val="10A861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662DA-7C71-4FF5-80B3-DA9C6F95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6004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2C29"/>
                </a:solidFill>
              </a:defRPr>
            </a:pPr>
            <a:r>
              <a:rPr sz="1050" b="1">
                <a:solidFill>
                  <a:srgbClr val="0E2C29"/>
                </a:solidFill>
              </a:rPr>
              <a:t>提交申请</a:t>
            </a:r>
          </a:p>
          <a:p xmlns:a="http://schemas.openxmlformats.org/drawingml/2006/main">
            <a:pPr algn="ctr">
              <a:defRPr sz="1050" b="1">
                <a:solidFill>
                  <a:srgbClr val="0E2C29"/>
                </a:solidFill>
              </a:defRPr>
            </a:pPr>
            <a:r>
              <a:rPr sz="1050" b="1">
                <a:solidFill>
                  <a:srgbClr val="0E2C29"/>
                </a:solidFill>
              </a:rPr>
              <a:t>与授权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6F150-51E4-44D7-B4FB-C022B6F1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52800"/>
            <a:ext cx="10096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E2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5CE38-F9AA-4A86-9816-228ECE73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813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88A55-B732-43B9-A4AC-2C0F78D7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908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A861"/>
                </a:solidFill>
              </a:defRPr>
            </a:pPr>
            <a:r>
              <a:rPr sz="1200" b="1">
                <a:solidFill>
                  <a:srgbClr val="10A861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16B05-9F87-419C-9EFD-8C3BE1D5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004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2C29"/>
                </a:solidFill>
              </a:defRPr>
            </a:pPr>
            <a:r>
              <a:rPr sz="1050" b="1">
                <a:solidFill>
                  <a:srgbClr val="0E2C29"/>
                </a:solidFill>
              </a:rPr>
              <a:t>企业</a:t>
            </a:r>
          </a:p>
          <a:p xmlns:a="http://schemas.openxmlformats.org/drawingml/2006/main">
            <a:pPr algn="ctr">
              <a:defRPr sz="1050" b="1">
                <a:solidFill>
                  <a:srgbClr val="0E2C29"/>
                </a:solidFill>
              </a:defRPr>
            </a:pPr>
            <a:r>
              <a:rPr sz="1050" b="1">
                <a:solidFill>
                  <a:srgbClr val="0E2C29"/>
                </a:solidFill>
              </a:rPr>
              <a:t>核验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70E8FA-4C3B-44ED-A8F3-7B1B9956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352800"/>
            <a:ext cx="10096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E2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FDF10-F423-473A-BF92-C5ED1B4D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1813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A8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C16B7-345C-4AD3-B509-5386701A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1908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4FCF5-A0F1-4F7E-B932-EF1BA9EF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004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2C29"/>
                </a:solidFill>
              </a:defRPr>
            </a:pPr>
            <a:r>
              <a:rPr sz="1050" b="1">
                <a:solidFill>
                  <a:srgbClr val="0E2C29"/>
                </a:solidFill>
              </a:rPr>
              <a:t>机构</a:t>
            </a:r>
          </a:p>
          <a:p xmlns:a="http://schemas.openxmlformats.org/drawingml/2006/main">
            <a:pPr algn="ctr">
              <a:defRPr sz="1050" b="1">
                <a:solidFill>
                  <a:srgbClr val="0E2C29"/>
                </a:solidFill>
              </a:defRPr>
            </a:pPr>
            <a:r>
              <a:rPr sz="1050" b="1">
                <a:solidFill>
                  <a:srgbClr val="0E2C29"/>
                </a:solidFill>
              </a:rPr>
              <a:t>审批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76B4B-4408-4B81-B8C7-8E3BC1C7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10096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E2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64E343-5084-4C79-A575-7CCBA492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ADD76B-A5AF-4093-9F23-58601DE2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908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A861"/>
                </a:solidFill>
              </a:defRPr>
            </a:pPr>
            <a:r>
              <a:rPr sz="1200" b="1">
                <a:solidFill>
                  <a:srgbClr val="10A861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D26A12-B576-433B-885F-5800F2C4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04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2C29"/>
                </a:solidFill>
              </a:defRPr>
            </a:pPr>
            <a:r>
              <a:rPr sz="1050" b="1">
                <a:solidFill>
                  <a:srgbClr val="0E2C29"/>
                </a:solidFill>
              </a:rPr>
              <a:t>合同</a:t>
            </a:r>
          </a:p>
          <a:p xmlns:a="http://schemas.openxmlformats.org/drawingml/2006/main">
            <a:pPr algn="ctr">
              <a:defRPr sz="1050" b="1">
                <a:solidFill>
                  <a:srgbClr val="0E2C29"/>
                </a:solidFill>
              </a:defRPr>
            </a:pPr>
            <a:r>
              <a:rPr sz="1050" b="1">
                <a:solidFill>
                  <a:srgbClr val="0E2C29"/>
                </a:solidFill>
              </a:rPr>
              <a:t>签约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712E1E-C566-4CA2-9004-A0EACBB0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352800"/>
            <a:ext cx="10096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E2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1E4EB7-5698-4061-B5FF-078C1EBE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1813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A8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3BE9C3-689B-4CF9-9EE2-AF4EDFBD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1908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1E5657-E318-4C0F-8E2A-CB6EDD94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004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2C29"/>
                </a:solidFill>
              </a:defRPr>
            </a:pPr>
            <a:r>
              <a:rPr sz="1050" b="1">
                <a:solidFill>
                  <a:srgbClr val="0E2C29"/>
                </a:solidFill>
              </a:rPr>
              <a:t>机构</a:t>
            </a:r>
          </a:p>
          <a:p xmlns:a="http://schemas.openxmlformats.org/drawingml/2006/main">
            <a:pPr algn="ctr">
              <a:defRPr sz="1050" b="1">
                <a:solidFill>
                  <a:srgbClr val="0E2C29"/>
                </a:solidFill>
              </a:defRPr>
            </a:pPr>
            <a:r>
              <a:rPr sz="1050" b="1">
                <a:solidFill>
                  <a:srgbClr val="0E2C29"/>
                </a:solidFill>
              </a:rPr>
              <a:t>放款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702A51-7FC6-4153-B1A9-38A82722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52800"/>
            <a:ext cx="10096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E2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555012-9CB5-4B3D-B3FF-029A58C3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813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378263-CD80-4A28-97E7-7BAD892F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908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A861"/>
                </a:solidFill>
              </a:defRPr>
            </a:pPr>
            <a:r>
              <a:rPr sz="1200" b="1">
                <a:solidFill>
                  <a:srgbClr val="10A861"/>
                </a:solidFill>
              </a:rPr>
              <a:t>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4EE29B-6740-4295-9409-9873B97F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04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2C29"/>
                </a:solidFill>
              </a:defRPr>
            </a:pPr>
            <a:r>
              <a:rPr sz="1050" b="1">
                <a:solidFill>
                  <a:srgbClr val="0E2C29"/>
                </a:solidFill>
              </a:rPr>
              <a:t>账单与</a:t>
            </a:r>
          </a:p>
          <a:p xmlns:a="http://schemas.openxmlformats.org/drawingml/2006/main">
            <a:pPr algn="ctr">
              <a:defRPr sz="1050" b="1">
                <a:solidFill>
                  <a:srgbClr val="0E2C29"/>
                </a:solidFill>
              </a:defRPr>
            </a:pPr>
            <a:r>
              <a:rPr sz="1050" b="1">
                <a:solidFill>
                  <a:srgbClr val="0E2C29"/>
                </a:solidFill>
              </a:rPr>
              <a:t>还款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3F21F4-DCB8-48E4-894E-39A081B6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1813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90D511-7E37-470D-93F4-CC668340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1908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A861"/>
                </a:solidFill>
              </a:defRPr>
            </a:pPr>
            <a:r>
              <a:rPr sz="1200" b="1">
                <a:solidFill>
                  <a:srgbClr val="10A861"/>
                </a:solidFill>
              </a:rPr>
              <a:t>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703A68-CA35-41CA-9A4A-AB917C15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6004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2C29"/>
                </a:solidFill>
              </a:defRPr>
            </a:pPr>
            <a:r>
              <a:rPr sz="1050" b="1">
                <a:solidFill>
                  <a:srgbClr val="0E2C29"/>
                </a:solidFill>
              </a:rPr>
              <a:t>对账、客服</a:t>
            </a:r>
          </a:p>
          <a:p xmlns:a="http://schemas.openxmlformats.org/drawingml/2006/main">
            <a:pPr algn="ctr">
              <a:defRPr sz="1050" b="1">
                <a:solidFill>
                  <a:srgbClr val="0E2C29"/>
                </a:solidFill>
              </a:defRPr>
            </a:pPr>
            <a:r>
              <a:rPr sz="1050" b="1">
                <a:solidFill>
                  <a:srgbClr val="0E2C29"/>
                </a:solidFill>
              </a:rPr>
              <a:t>与投诉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48DE18-F74B-48D1-8F51-81EA2BE9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81087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6F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264A51-6710-415A-8C83-7B03A3BF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2C29"/>
                </a:solidFill>
              </a:defRPr>
            </a:pPr>
            <a:r>
              <a:rPr sz="1650" b="1">
                <a:solidFill>
                  <a:srgbClr val="0E2C29"/>
                </a:solidFill>
              </a:rPr>
              <a:t>贯穿全程：授权版本留痕｜状态时间线｜异常补件｜审计事件｜最小化数据共享</a:t>
            </a:r>
          </a:p>
        </p:txBody>
      </p:sp>
    </p:spTree>
    <p:extLst>
      <p:ext uri="{BB962C8B-B14F-4D97-AF65-F5344CB8AC3E}">
        <p14:creationId xmlns:p14="http://schemas.microsoft.com/office/powerpoint/2010/main" val="6182277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4DE9B-2A95-4A1B-9092-7C6D2E8C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861"/>
                </a:solidFill>
              </a:defRPr>
            </a:pPr>
            <a:r>
              <a:rPr sz="975" b="1">
                <a:solidFill>
                  <a:srgbClr val="10A861"/>
                </a:solidFill>
              </a:rPr>
              <a:t>04｜用户体验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6F82F-23AE-4D25-912E-9CEB1857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E2C29"/>
                </a:solidFill>
              </a:defRPr>
            </a:pPr>
            <a:r>
              <a:rPr sz="2625" b="1">
                <a:solidFill>
                  <a:srgbClr val="0E2C29"/>
                </a:solidFill>
              </a:rPr>
              <a:t>一个 Telegram Mini App 覆盖申请、订单、账单与个人中心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C63A4-0E68-49DA-A02E-F7AF4EC1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6B"/>
                </a:solidFill>
              </a:defRPr>
            </a:pPr>
            <a:r>
              <a:rPr sz="1350" b="0">
                <a:solidFill>
                  <a:srgbClr val="55706B"/>
                </a:solidFill>
              </a:rPr>
              <a:t>三语界面（高棉语、英语、中文）降低一线员工使用门槛；语言偏好可延续。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24509-6B54-4662-AFF2-A835C413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22648-D387-4DFD-B9C7-1BCC8226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6B"/>
                </a:solidFill>
              </a:defRPr>
            </a:pPr>
            <a:r>
              <a:rPr sz="825" b="0">
                <a:solidFill>
                  <a:srgbClr val="55706B"/>
                </a:solidFill>
              </a:rPr>
              <a:t>PayEase｜投资方核心业务流程｜内部材料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59526-F61E-4A06-9604-812C6BE8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6B"/>
                </a:solidFill>
              </a:defRPr>
            </a:pPr>
            <a:r>
              <a:rPr sz="825" b="1">
                <a:solidFill>
                  <a:srgbClr val="55706B"/>
                </a:solidFill>
              </a:rPr>
              <a:t>05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af65fc05e436c"/>
          <a:stretch xmlns:a="http://schemas.openxmlformats.org/drawingml/2006/main"/>
        </p:blipFill>
        <p:spPr>
          <a:xfrm xmlns:a="http://schemas.openxmlformats.org/drawingml/2006/main">
            <a:off x="1741015" y="1952625"/>
            <a:ext cx="1661470" cy="371475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9ad8fc60a4b19"/>
          <a:stretch xmlns:a="http://schemas.openxmlformats.org/drawingml/2006/main"/>
        </p:blipFill>
        <p:spPr>
          <a:xfrm xmlns:a="http://schemas.openxmlformats.org/drawingml/2006/main">
            <a:off x="6014868" y="1952625"/>
            <a:ext cx="1876763" cy="371475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03372-1EAE-4DC3-85EC-7477C51F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C29"/>
                </a:solidFill>
              </a:defRPr>
            </a:pPr>
            <a:r>
              <a:rPr sz="1275" b="1">
                <a:solidFill>
                  <a:srgbClr val="0E2C29"/>
                </a:solidFill>
              </a:rPr>
              <a:t>申请额度与期限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643EC-EA32-46A5-989C-0DE982AC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102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C29"/>
                </a:solidFill>
              </a:defRPr>
            </a:pPr>
            <a:r>
              <a:rPr sz="1275" b="1">
                <a:solidFill>
                  <a:srgbClr val="0E2C29"/>
                </a:solidFill>
              </a:rPr>
              <a:t>登录状态、语言、客服与投诉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19137-C1B1-4C51-A68E-81B909E7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428875" cy="2571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F7F4D-C903-4C85-98FC-D31D9033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288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2C29"/>
                </a:solidFill>
              </a:defRPr>
            </a:pPr>
            <a:r>
              <a:rPr sz="1500" b="1">
                <a:solidFill>
                  <a:srgbClr val="0E2C29"/>
                </a:solidFill>
              </a:rPr>
              <a:t>用户可见的信息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2FF83-1FB4-437E-BACE-8FF9E0CC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52750"/>
            <a:ext cx="1857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6B"/>
                </a:solidFill>
              </a:defRPr>
            </a:pPr>
            <a:r>
              <a:rPr sz="1275" b="0">
                <a:solidFill>
                  <a:srgbClr val="55706B"/>
                </a:solidFill>
              </a:rPr>
              <a:t>• 申请进度与补件</a:t>
            </a:r>
          </a:p>
          <a:p xmlns:a="http://schemas.openxmlformats.org/drawingml/2006/main">
            <a:pPr algn="l">
              <a:defRPr sz="1275" b="0">
                <a:solidFill>
                  <a:srgbClr val="55706B"/>
                </a:solidFill>
              </a:defRPr>
            </a:pPr>
            <a:r>
              <a:rPr sz="1275" b="0">
                <a:solidFill>
                  <a:srgbClr val="55706B"/>
                </a:solidFill>
              </a:rPr>
              <a:t>• 审批结果与签约入口</a:t>
            </a:r>
          </a:p>
          <a:p xmlns:a="http://schemas.openxmlformats.org/drawingml/2006/main">
            <a:pPr algn="l">
              <a:defRPr sz="1275" b="0">
                <a:solidFill>
                  <a:srgbClr val="55706B"/>
                </a:solidFill>
              </a:defRPr>
            </a:pPr>
            <a:r>
              <a:rPr sz="1275" b="0">
                <a:solidFill>
                  <a:srgbClr val="55706B"/>
                </a:solidFill>
              </a:rPr>
              <a:t>• 账单、已还/未还期数</a:t>
            </a:r>
          </a:p>
          <a:p xmlns:a="http://schemas.openxmlformats.org/drawingml/2006/main">
            <a:pPr algn="l">
              <a:defRPr sz="1275" b="0">
                <a:solidFill>
                  <a:srgbClr val="55706B"/>
                </a:solidFill>
              </a:defRPr>
            </a:pPr>
            <a:r>
              <a:rPr sz="1275" b="0">
                <a:solidFill>
                  <a:srgbClr val="55706B"/>
                </a:solidFill>
              </a:rPr>
              <a:t>• 下一期应还日期与金额</a:t>
            </a:r>
          </a:p>
          <a:p xmlns:a="http://schemas.openxmlformats.org/drawingml/2006/main">
            <a:pPr algn="l">
              <a:defRPr sz="1275" b="0">
                <a:solidFill>
                  <a:srgbClr val="55706B"/>
                </a:solidFill>
              </a:defRPr>
            </a:pPr>
            <a:r>
              <a:rPr sz="1275" b="0">
                <a:solidFill>
                  <a:srgbClr val="55706B"/>
                </a:solidFill>
              </a:rPr>
              <a:t>• 客服与投诉入口</a:t>
            </a:r>
          </a:p>
        </p:txBody>
      </p:sp>
    </p:spTree>
    <p:extLst>
      <p:ext uri="{BB962C8B-B14F-4D97-AF65-F5344CB8AC3E}">
        <p14:creationId xmlns:p14="http://schemas.microsoft.com/office/powerpoint/2010/main" val="13357148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E7C2D-3D4D-40A4-8D37-9D002645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861"/>
                </a:solidFill>
              </a:defRPr>
            </a:pPr>
            <a:r>
              <a:rPr sz="975" b="1">
                <a:solidFill>
                  <a:srgbClr val="10A861"/>
                </a:solidFill>
              </a:rPr>
              <a:t>05｜管理协同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CA4A0-5D21-4C9F-84D2-646AE530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E2C29"/>
                </a:solidFill>
              </a:defRPr>
            </a:pPr>
            <a:r>
              <a:rPr sz="2625" b="1">
                <a:solidFill>
                  <a:srgbClr val="0E2C29"/>
                </a:solidFill>
              </a:rPr>
              <a:t>后台把“谁能看、谁能操作、谁负责”固化到流程中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BC18A-1AB5-40F8-918F-BBA0F7DE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6B"/>
                </a:solidFill>
              </a:defRPr>
            </a:pPr>
            <a:r>
              <a:rPr sz="1350" b="0">
                <a:solidFill>
                  <a:srgbClr val="55706B"/>
                </a:solidFill>
              </a:rPr>
              <a:t>首批试点先支持人工审核、人工放款和人工核销；重要动作采用指定账号与审批留痕。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04C2A-4C98-445F-AF32-DA587F8E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4E266-AAAA-42FB-B2A2-0DA77BE1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6B"/>
                </a:solidFill>
              </a:defRPr>
            </a:pPr>
            <a:r>
              <a:rPr sz="825" b="0">
                <a:solidFill>
                  <a:srgbClr val="55706B"/>
                </a:solidFill>
              </a:rPr>
              <a:t>PayEase｜投资方核心业务流程｜内部材料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C9EBA-0A3C-43A9-896C-FF5EA3BD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6B"/>
                </a:solidFill>
              </a:defRPr>
            </a:pPr>
            <a:r>
              <a:rPr sz="825" b="1">
                <a:solidFill>
                  <a:srgbClr val="55706B"/>
                </a:solidFill>
              </a:rPr>
              <a:t>06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63bf739c94d12"/>
          <a:stretch xmlns:a="http://schemas.openxmlformats.org/drawingml/2006/main"/>
        </p:blipFill>
        <p:spPr>
          <a:xfrm xmlns:a="http://schemas.openxmlformats.org/drawingml/2006/main">
            <a:off x="666750" y="2155031"/>
            <a:ext cx="5905500" cy="3690938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D1AFD-766B-48DC-8651-540FFE02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336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2C29"/>
                </a:solidFill>
              </a:defRPr>
            </a:pPr>
            <a:r>
              <a:rPr sz="1950" b="1">
                <a:solidFill>
                  <a:srgbClr val="0E2C29"/>
                </a:solidFill>
              </a:rPr>
              <a:t>助贷运营后台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CBD66-C3B1-4F35-A2CF-E93C1FD8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706B"/>
                </a:solidFill>
              </a:defRPr>
            </a:pPr>
            <a:r>
              <a:rPr sz="1500" b="0">
                <a:solidFill>
                  <a:srgbClr val="55706B"/>
                </a:solidFill>
              </a:rPr>
              <a:t>• 申请资料质检与补件催办</a:t>
            </a:r>
          </a:p>
          <a:p xmlns:a="http://schemas.openxmlformats.org/drawingml/2006/main">
            <a:pPr algn="l">
              <a:defRPr sz="1500" b="0">
                <a:solidFill>
                  <a:srgbClr val="55706B"/>
                </a:solidFill>
              </a:defRPr>
            </a:pPr>
            <a:r>
              <a:rPr sz="1500" b="0">
                <a:solidFill>
                  <a:srgbClr val="55706B"/>
                </a:solidFill>
              </a:rPr>
              <a:t>• 企业接入与核验协调</a:t>
            </a:r>
          </a:p>
          <a:p xmlns:a="http://schemas.openxmlformats.org/drawingml/2006/main">
            <a:pPr algn="l">
              <a:defRPr sz="1500" b="0">
                <a:solidFill>
                  <a:srgbClr val="55706B"/>
                </a:solidFill>
              </a:defRPr>
            </a:pPr>
            <a:r>
              <a:rPr sz="1500" b="0">
                <a:solidFill>
                  <a:srgbClr val="55706B"/>
                </a:solidFill>
              </a:rPr>
              <a:t>• 异常工单、客服、投诉、对账</a:t>
            </a:r>
          </a:p>
          <a:p xmlns:a="http://schemas.openxmlformats.org/drawingml/2006/main">
            <a:pPr algn="l">
              <a:defRPr sz="1500" b="0">
                <a:solidFill>
                  <a:srgbClr val="55706B"/>
                </a:solidFill>
              </a:defRPr>
            </a:pPr>
            <a:r>
              <a:rPr sz="1500" b="0">
                <a:solidFill>
                  <a:srgbClr val="55706B"/>
                </a:solidFill>
              </a:rPr>
              <a:t>• 审计检索与安全事件处置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74F44-09F8-45FB-AF95-5A7985CD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24375"/>
            <a:ext cx="3714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6F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4214D-D5D3-4038-AF91-E1EA3D8C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053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A861"/>
                </a:solidFill>
              </a:defRPr>
            </a:pPr>
            <a:r>
              <a:rPr sz="1275" b="1">
                <a:solidFill>
                  <a:srgbClr val="10A861"/>
                </a:solidFill>
              </a:rPr>
              <a:t>不具备的权限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4C45B-85B5-4CD4-8FE4-01F46A9E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0196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C29"/>
                </a:solidFill>
              </a:defRPr>
            </a:pPr>
            <a:r>
              <a:rPr sz="1650" b="1">
                <a:solidFill>
                  <a:srgbClr val="0E2C29"/>
                </a:solidFill>
              </a:rPr>
              <a:t>不授信｜不定价｜不放款</a:t>
            </a:r>
          </a:p>
        </p:txBody>
      </p:sp>
    </p:spTree>
    <p:extLst>
      <p:ext uri="{BB962C8B-B14F-4D97-AF65-F5344CB8AC3E}">
        <p14:creationId xmlns:p14="http://schemas.microsoft.com/office/powerpoint/2010/main" val="8427808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8108E-6E7F-49A4-A172-982E237C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861"/>
                </a:solidFill>
              </a:defRPr>
            </a:pPr>
            <a:r>
              <a:rPr sz="975" b="1">
                <a:solidFill>
                  <a:srgbClr val="10A861"/>
                </a:solidFill>
              </a:rPr>
              <a:t>06｜首批产品与运营模型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7B029-9502-4A57-9EEF-675440DB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E2C29"/>
                </a:solidFill>
              </a:defRPr>
            </a:pPr>
            <a:r>
              <a:rPr sz="2625" b="1">
                <a:solidFill>
                  <a:srgbClr val="0E2C29"/>
                </a:solidFill>
              </a:rPr>
              <a:t>先用小范围、可控的人工流程验证一笔交易闭环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B701A-890A-408E-8BF1-890360E9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6B"/>
                </a:solidFill>
              </a:defRPr>
            </a:pPr>
            <a:r>
              <a:rPr sz="1350" b="0">
                <a:solidFill>
                  <a:srgbClr val="55706B"/>
                </a:solidFill>
              </a:rPr>
              <a:t>产品规则由持牌机构版本化确认，平台只承接流程与服务。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6B330-776C-4A82-A5F9-988712D5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30313-CC1B-4DCF-AE80-8C88A9B8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6B"/>
                </a:solidFill>
              </a:defRPr>
            </a:pPr>
            <a:r>
              <a:rPr sz="825" b="0">
                <a:solidFill>
                  <a:srgbClr val="55706B"/>
                </a:solidFill>
              </a:rPr>
              <a:t>PayEase｜投资方核心业务流程｜内部材料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0EE36-C94D-44A3-8E89-735411C5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6B"/>
                </a:solidFill>
              </a:defRPr>
            </a:pPr>
            <a:r>
              <a:rPr sz="825" b="1">
                <a:solidFill>
                  <a:srgbClr val="55706B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4E5E1-6A44-4D0C-A1F6-999F8F92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3381375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49330-8976-46F7-B365-1D1204D0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2C29"/>
                </a:solidFill>
              </a:defRPr>
            </a:pPr>
            <a:r>
              <a:rPr sz="1725" b="1">
                <a:solidFill>
                  <a:srgbClr val="0E2C29"/>
                </a:solidFill>
              </a:rPr>
              <a:t>首批产品边界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458AA-E3EF-4EF4-A4A8-446DF32E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257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706B"/>
                </a:solidFill>
              </a:defRPr>
            </a:pPr>
            <a:r>
              <a:rPr sz="1425" b="0">
                <a:solidFill>
                  <a:srgbClr val="55706B"/>
                </a:solidFill>
              </a:rPr>
              <a:t>额度：USD 10–500</a:t>
            </a:r>
          </a:p>
          <a:p xmlns:a="http://schemas.openxmlformats.org/drawingml/2006/main">
            <a:pPr algn="l">
              <a:defRPr sz="1425" b="0">
                <a:solidFill>
                  <a:srgbClr val="55706B"/>
                </a:solidFill>
              </a:defRPr>
            </a:pPr>
            <a:r>
              <a:rPr sz="1425" b="0">
                <a:solidFill>
                  <a:srgbClr val="55706B"/>
                </a:solidFill>
              </a:rPr>
              <a:t>期限：7–180 天</a:t>
            </a:r>
          </a:p>
          <a:p xmlns:a="http://schemas.openxmlformats.org/drawingml/2006/main">
            <a:pPr algn="l">
              <a:defRPr sz="1425" b="0">
                <a:solidFill>
                  <a:srgbClr val="55706B"/>
                </a:solidFill>
              </a:defRPr>
            </a:pPr>
            <a:r>
              <a:rPr sz="1425" b="0">
                <a:solidFill>
                  <a:srgbClr val="55706B"/>
                </a:solidFill>
              </a:rPr>
              <a:t>费率/逾期/提前结清：</a:t>
            </a:r>
          </a:p>
          <a:p xmlns:a="http://schemas.openxmlformats.org/drawingml/2006/main">
            <a:pPr algn="l">
              <a:defRPr sz="1425" b="0">
                <a:solidFill>
                  <a:srgbClr val="55706B"/>
                </a:solidFill>
              </a:defRPr>
            </a:pPr>
            <a:r>
              <a:rPr sz="1425" b="0">
                <a:solidFill>
                  <a:srgbClr val="55706B"/>
                </a:solidFill>
              </a:rPr>
              <a:t>由机构后台配置并版本化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5706B"/>
                </a:solidFill>
              </a:defRPr>
            </a:pPr>
            <a:r>
              <a:rPr sz="1425" b="0">
                <a:solidFill>
                  <a:srgbClr val="55706B"/>
                </a:solidFill>
              </a:rPr>
              <a:t>支持再次申请：满足拒贷条件后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F5D2B-B5DB-4243-A189-F4C8F79D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43125"/>
            <a:ext cx="3381375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2F17E-3B98-458F-9C0B-349BCABB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2C29"/>
                </a:solidFill>
              </a:defRPr>
            </a:pPr>
            <a:r>
              <a:rPr sz="1725" b="1">
                <a:solidFill>
                  <a:srgbClr val="0E2C29"/>
                </a:solidFill>
              </a:rPr>
              <a:t>首批试点规模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F65B6-29EE-4E59-B343-9745BD66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257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706B"/>
                </a:solidFill>
              </a:defRPr>
            </a:pPr>
            <a:r>
              <a:rPr sz="1425" b="0">
                <a:solidFill>
                  <a:srgbClr val="55706B"/>
                </a:solidFill>
              </a:rPr>
              <a:t>首家合作：兰海国际</a:t>
            </a:r>
          </a:p>
          <a:p xmlns:a="http://schemas.openxmlformats.org/drawingml/2006/main">
            <a:pPr algn="l">
              <a:defRPr sz="1425" b="0">
                <a:solidFill>
                  <a:srgbClr val="55706B"/>
                </a:solidFill>
              </a:defRPr>
            </a:pPr>
            <a:r>
              <a:rPr sz="1425" b="0">
                <a:solidFill>
                  <a:srgbClr val="55706B"/>
                </a:solidFill>
              </a:rPr>
              <a:t>企业：1–3 个工厂</a:t>
            </a:r>
          </a:p>
          <a:p xmlns:a="http://schemas.openxmlformats.org/drawingml/2006/main">
            <a:pPr algn="l">
              <a:defRPr sz="1425" b="0">
                <a:solidFill>
                  <a:srgbClr val="55706B"/>
                </a:solidFill>
              </a:defRPr>
            </a:pPr>
            <a:r>
              <a:rPr sz="1425" b="0">
                <a:solidFill>
                  <a:srgbClr val="55706B"/>
                </a:solidFill>
              </a:rPr>
              <a:t>覆盖员工：约 1 万</a:t>
            </a:r>
          </a:p>
          <a:p xmlns:a="http://schemas.openxmlformats.org/drawingml/2006/main">
            <a:pPr algn="l">
              <a:defRPr sz="1425" b="0">
                <a:solidFill>
                  <a:srgbClr val="55706B"/>
                </a:solidFill>
              </a:defRPr>
            </a:pPr>
            <a:r>
              <a:rPr sz="1425" b="0">
                <a:solidFill>
                  <a:srgbClr val="55706B"/>
                </a:solidFill>
              </a:rPr>
              <a:t>预期申请：10–200 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5706B"/>
                </a:solidFill>
              </a:defRPr>
            </a:pPr>
            <a:r>
              <a:rPr sz="1425" b="0">
                <a:solidFill>
                  <a:srgbClr val="55706B"/>
                </a:solidFill>
              </a:rPr>
              <a:t>放款与核销：指定账号审批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C9F6D-2C07-4652-95DD-55714FDD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43125"/>
            <a:ext cx="3381375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8F2C0-B453-4555-A753-147C848A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2C29"/>
                </a:solidFill>
              </a:defRPr>
            </a:pPr>
            <a:r>
              <a:rPr sz="1725" b="1">
                <a:solidFill>
                  <a:srgbClr val="0E2C29"/>
                </a:solidFill>
              </a:rPr>
              <a:t>服务节奏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D0CF92-B152-4C2E-A4D1-9728235B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05125"/>
            <a:ext cx="257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706B"/>
                </a:solidFill>
              </a:defRPr>
            </a:pPr>
            <a:r>
              <a:rPr sz="1425" b="0">
                <a:solidFill>
                  <a:srgbClr val="55706B"/>
                </a:solidFill>
              </a:rPr>
              <a:t>运营服务：资料审核、核验催办、</a:t>
            </a:r>
          </a:p>
          <a:p xmlns:a="http://schemas.openxmlformats.org/drawingml/2006/main">
            <a:pPr algn="l">
              <a:defRPr sz="1425" b="0">
                <a:solidFill>
                  <a:srgbClr val="55706B"/>
                </a:solidFill>
              </a:defRPr>
            </a:pPr>
            <a:r>
              <a:rPr sz="1425" b="0">
                <a:solidFill>
                  <a:srgbClr val="55706B"/>
                </a:solidFill>
              </a:rPr>
              <a:t>异常、客服、投诉、对账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5706B"/>
                </a:solidFill>
              </a:defRPr>
            </a:pPr>
            <a:r>
              <a:rPr sz="1425" b="0">
                <a:solidFill>
                  <a:srgbClr val="55706B"/>
                </a:solidFill>
              </a:rPr>
              <a:t>工作时间：08:00–18:00</a:t>
            </a:r>
          </a:p>
          <a:p xmlns:a="http://schemas.openxmlformats.org/drawingml/2006/main">
            <a:pPr algn="l">
              <a:defRPr sz="1425" b="0">
                <a:solidFill>
                  <a:srgbClr val="55706B"/>
                </a:solidFill>
              </a:defRPr>
            </a:pPr>
            <a:r>
              <a:rPr sz="1425" b="0">
                <a:solidFill>
                  <a:srgbClr val="55706B"/>
                </a:solidFill>
              </a:rPr>
              <a:t>目标响应：0–1.5 小时</a:t>
            </a:r>
          </a:p>
          <a:p xmlns:a="http://schemas.openxmlformats.org/drawingml/2006/main">
            <a:pPr algn="l">
              <a:defRPr sz="1425" b="0">
                <a:solidFill>
                  <a:srgbClr val="55706B"/>
                </a:solidFill>
              </a:defRPr>
            </a:pPr>
            <a:r>
              <a:rPr sz="1425" b="0">
                <a:solidFill>
                  <a:srgbClr val="55706B"/>
                </a:solidFill>
              </a:rPr>
              <a:t>其他时段：3–5 小时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BA1BA-4470-4E70-866B-AB8560FA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768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A861"/>
                </a:solidFill>
              </a:defRPr>
            </a:pPr>
            <a:r>
              <a:rPr sz="1650" b="1">
                <a:solidFill>
                  <a:srgbClr val="10A861"/>
                </a:solidFill>
              </a:rPr>
              <a:t>第一笔交易的验收：申请 → 核验 → 审批 → 签约 → 放款 → 账单 → 还款 → 对账 → 客服/投诉。</a:t>
            </a:r>
          </a:p>
        </p:txBody>
      </p:sp>
    </p:spTree>
    <p:extLst>
      <p:ext uri="{BB962C8B-B14F-4D97-AF65-F5344CB8AC3E}">
        <p14:creationId xmlns:p14="http://schemas.microsoft.com/office/powerpoint/2010/main" val="1551708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AA7CA2-C2EC-47F6-BD19-C5414847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861"/>
                </a:solidFill>
              </a:defRPr>
            </a:pPr>
            <a:r>
              <a:rPr sz="975" b="1">
                <a:solidFill>
                  <a:srgbClr val="10A861"/>
                </a:solidFill>
              </a:rPr>
              <a:t>07｜关键技术点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C3489-B3A2-431F-98E6-4ECC96C9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E2C29"/>
                </a:solidFill>
              </a:defRPr>
            </a:pPr>
            <a:r>
              <a:rPr sz="2625" b="1">
                <a:solidFill>
                  <a:srgbClr val="0E2C29"/>
                </a:solidFill>
              </a:rPr>
              <a:t>技术的作用是把协同流程做得可信、可控、可追溯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14E10-0E8D-40C8-9090-806A98D8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6B"/>
                </a:solidFill>
              </a:defRPr>
            </a:pPr>
            <a:r>
              <a:rPr sz="1350" b="0">
                <a:solidFill>
                  <a:srgbClr val="55706B"/>
                </a:solidFill>
              </a:rPr>
              <a:t>投资方无需理解全部实现细节，只需关注每项技术如何降低经营与合规风险。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F590F-70EA-4805-BEDD-18CB42B9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BFA47-CB6A-4049-BAE0-C764EE89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6B"/>
                </a:solidFill>
              </a:defRPr>
            </a:pPr>
            <a:r>
              <a:rPr sz="825" b="0">
                <a:solidFill>
                  <a:srgbClr val="55706B"/>
                </a:solidFill>
              </a:rPr>
              <a:t>PayEase｜投资方核心业务流程｜内部材料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53619-30DC-49AB-92CC-4AA136DB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6B"/>
                </a:solidFill>
              </a:defRPr>
            </a:pPr>
            <a:r>
              <a:rPr sz="825" b="1">
                <a:solidFill>
                  <a:srgbClr val="55706B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2C2A1-8243-4B4B-84E5-ECF248E1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143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0DBC6-22E9-420C-9DEC-43269A5D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145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C29"/>
                </a:solidFill>
              </a:defRPr>
            </a:pPr>
            <a:r>
              <a:rPr sz="1650" b="1">
                <a:solidFill>
                  <a:srgbClr val="0E2C29"/>
                </a:solidFill>
              </a:rPr>
              <a:t>Telegram 身份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33E57-0572-450A-8F48-63390244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860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6B"/>
                </a:solidFill>
              </a:defRPr>
            </a:pPr>
            <a:r>
              <a:rPr sz="1275" b="0">
                <a:solidFill>
                  <a:srgbClr val="55706B"/>
                </a:solidFill>
              </a:rPr>
              <a:t>服务端验证 Telegram 授权信息；支持多 Bot；会话使用 HttpOnly Cookie。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95780-8336-4CFE-867F-7245EF31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95500"/>
            <a:ext cx="5143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6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1542E-4F1E-466D-AC54-75120D8C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145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C29"/>
                </a:solidFill>
              </a:defRPr>
            </a:pPr>
            <a:r>
              <a:rPr sz="1650" b="1">
                <a:solidFill>
                  <a:srgbClr val="0E2C29"/>
                </a:solidFill>
              </a:rPr>
              <a:t>数据最小化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065041-C5E8-484D-AA85-2AE5B216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6B"/>
                </a:solidFill>
              </a:defRPr>
            </a:pPr>
            <a:r>
              <a:rPr sz="1275" b="0">
                <a:solidFill>
                  <a:srgbClr val="55706B"/>
                </a:solidFill>
              </a:rPr>
              <a:t>企业优先返回在职与薪资区间结论，不默认共享完整工资单。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24EBB-C75B-466D-BD3E-BCF38A1B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5143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6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95711-A891-4C59-B332-A3AA8D39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290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C29"/>
                </a:solidFill>
              </a:defRPr>
            </a:pPr>
            <a:r>
              <a:rPr sz="1650" b="1">
                <a:solidFill>
                  <a:srgbClr val="0E2C29"/>
                </a:solidFill>
              </a:rPr>
              <a:t>三域隔离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7C575-F435-4664-A17D-F2C27316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005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6B"/>
                </a:solidFill>
              </a:defRPr>
            </a:pPr>
            <a:r>
              <a:rPr sz="1275" b="0">
                <a:solidFill>
                  <a:srgbClr val="55706B"/>
                </a:solidFill>
              </a:rPr>
              <a:t>助贷、持牌机构、企业端独立责任与数据边界，跨域只走受控接口。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95558-35EF-41F4-A73C-BBDFBD76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810000"/>
            <a:ext cx="5143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6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AF2BB9-BF26-49DF-98C3-E2DA8A7E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290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C29"/>
                </a:solidFill>
              </a:defRPr>
            </a:pPr>
            <a:r>
              <a:rPr sz="1650" b="1">
                <a:solidFill>
                  <a:srgbClr val="0E2C29"/>
                </a:solidFill>
              </a:rPr>
              <a:t>审计与可靠性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3B1D6-48B8-4B35-9F28-7550A271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6B"/>
                </a:solidFill>
              </a:defRPr>
            </a:pPr>
            <a:r>
              <a:rPr sz="1275" b="0">
                <a:solidFill>
                  <a:srgbClr val="55706B"/>
                </a:solidFill>
              </a:rPr>
              <a:t>授权、状态、核验、决策和回调均有流水；关键回调具备签名、幂等与重试。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8A9EBA-274A-422E-8EAC-057CC10A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A861"/>
                </a:solidFill>
              </a:defRPr>
            </a:pPr>
            <a:r>
              <a:rPr sz="1575" b="1">
                <a:solidFill>
                  <a:srgbClr val="10A861"/>
                </a:solidFill>
              </a:rPr>
              <a:t>安全原则：Telegram 身份不是信贷实名；最终 KYC/AML、授信和资金责任仍由持牌机构承担。</a:t>
            </a:r>
          </a:p>
        </p:txBody>
      </p:sp>
    </p:spTree>
    <p:extLst>
      <p:ext uri="{BB962C8B-B14F-4D97-AF65-F5344CB8AC3E}">
        <p14:creationId xmlns:p14="http://schemas.microsoft.com/office/powerpoint/2010/main" val="1404487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97C696-32BD-45FB-A65D-F53CAB81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861"/>
                </a:solidFill>
              </a:defRPr>
            </a:pPr>
            <a:r>
              <a:rPr sz="975" b="1">
                <a:solidFill>
                  <a:srgbClr val="10A861"/>
                </a:solidFill>
              </a:rPr>
              <a:t>08｜试点推进路径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35D60-8936-4CFA-907A-E411A19F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E2C29"/>
                </a:solidFill>
              </a:defRPr>
            </a:pPr>
            <a:r>
              <a:rPr sz="2625" b="1">
                <a:solidFill>
                  <a:srgbClr val="0E2C29"/>
                </a:solidFill>
              </a:rPr>
              <a:t>从静态演示走向受控试点，必须逐一跨过四道门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D23CA-1735-4B86-A7EF-44BD8FFA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6B"/>
                </a:solidFill>
              </a:defRPr>
            </a:pPr>
            <a:r>
              <a:rPr sz="1350" b="0">
                <a:solidFill>
                  <a:srgbClr val="55706B"/>
                </a:solidFill>
              </a:rPr>
              <a:t>当前可用于演示与内部验证；真实用户、真实资金与真实数据必须在门禁完成后才启动。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3A40F-809E-461E-B23C-E62B36C7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F39C3-3BE0-4A07-8B3C-923DA26C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6B"/>
                </a:solidFill>
              </a:defRPr>
            </a:pPr>
            <a:r>
              <a:rPr sz="825" b="0">
                <a:solidFill>
                  <a:srgbClr val="55706B"/>
                </a:solidFill>
              </a:rPr>
              <a:t>PayEase｜投资方核心业务流程｜内部材料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C0923-0B86-40A0-B00C-483E73F9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6B"/>
                </a:solidFill>
              </a:defRPr>
            </a:pPr>
            <a:r>
              <a:rPr sz="825" b="1">
                <a:solidFill>
                  <a:srgbClr val="55706B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EACA1-39A4-4072-8D25-7A8577A8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2400300" cy="242887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5ADE7-FD7B-4FEA-995F-42EAC7F3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A8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09914-0F93-4C2A-96CB-F390E708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0FADB-AD0A-4A70-B8F8-7B5276A3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C29"/>
                </a:solidFill>
              </a:defRPr>
            </a:pPr>
            <a:r>
              <a:rPr sz="1575" b="1">
                <a:solidFill>
                  <a:srgbClr val="0E2C29"/>
                </a:solidFill>
              </a:rPr>
              <a:t>合规与责任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082F1-2FBF-49A8-A15F-FA9B07A8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6B"/>
                </a:solidFill>
              </a:defRPr>
            </a:pPr>
            <a:r>
              <a:rPr sz="1200" b="0">
                <a:solidFill>
                  <a:srgbClr val="55706B"/>
                </a:solidFill>
              </a:rPr>
              <a:t>柬埔寨法务确认收费、数据、电子签约、KYC/AML、催收话术与保存期限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D92F1A-BA41-4326-AAD0-57536747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81250"/>
            <a:ext cx="2400300" cy="242887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0C8635-2517-4239-B4F7-A1994EFC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908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A8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CE3323-9D82-4183-9243-633CCB58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38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AB238-92C8-4DDB-8022-6A398638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C29"/>
                </a:solidFill>
              </a:defRPr>
            </a:pPr>
            <a:r>
              <a:rPr sz="1575" b="1">
                <a:solidFill>
                  <a:srgbClr val="0E2C29"/>
                </a:solidFill>
              </a:rPr>
              <a:t>三域基础设施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B5201-3E68-4493-A5B6-B940EF52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71875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6B"/>
                </a:solidFill>
              </a:defRPr>
            </a:pPr>
            <a:r>
              <a:rPr sz="1200" b="0">
                <a:solidFill>
                  <a:srgbClr val="55706B"/>
                </a:solidFill>
              </a:rPr>
              <a:t>独立账号、网络、密钥、日志与部署责任边界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8E133-9E29-421F-BE43-14690D68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400300" cy="242887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DAD46-0E6D-4770-83A1-F9DAB532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A8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FE9DDF-A2FF-4E0C-AA38-C816D54D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38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F5BF0B-72F8-46B7-A2CA-4968B71B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C29"/>
                </a:solidFill>
              </a:defRPr>
            </a:pPr>
            <a:r>
              <a:rPr sz="1575" b="1">
                <a:solidFill>
                  <a:srgbClr val="0E2C29"/>
                </a:solidFill>
              </a:rPr>
              <a:t>合作方联调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8C5904-60E6-423C-B9A0-C33CF23A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71875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6B"/>
                </a:solidFill>
              </a:defRPr>
            </a:pPr>
            <a:r>
              <a:rPr sz="1200" b="0">
                <a:solidFill>
                  <a:srgbClr val="55706B"/>
                </a:solidFill>
              </a:rPr>
              <a:t>机构 SOW/DPA、企业 UAT、支付/银行渠道与人工审批 SOP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F2BBA-7A7D-4F7B-9C7B-85291281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81250"/>
            <a:ext cx="2400300" cy="242887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7B6828-BF49-4931-8CDA-C54EA695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908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A8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B567C5-13A2-4855-BF67-EA529EBF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38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E710B7-00E2-4C48-B218-92AF14D3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C29"/>
                </a:solidFill>
              </a:defRPr>
            </a:pPr>
            <a:r>
              <a:rPr sz="1575" b="1">
                <a:solidFill>
                  <a:srgbClr val="0E2C29"/>
                </a:solidFill>
              </a:rPr>
              <a:t>受控试点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2EAF88-1050-4474-9AEF-1CD1F47C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71875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6B"/>
                </a:solidFill>
              </a:defRPr>
            </a:pPr>
            <a:r>
              <a:rPr sz="1200" b="0">
                <a:solidFill>
                  <a:srgbClr val="55706B"/>
                </a:solidFill>
              </a:rPr>
              <a:t>白名单用户、小流量灰度、对账与投诉演练、Go/No-Go 决策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B0A2F7-905C-4B82-840A-38CE87E3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C29"/>
                </a:solidFill>
              </a:defRPr>
            </a:pPr>
            <a:r>
              <a:rPr sz="1650" b="1">
                <a:solidFill>
                  <a:srgbClr val="0E2C29"/>
                </a:solidFill>
              </a:rPr>
              <a:t>投资逻辑：先验证流程、数据质量与运营效率，再以受控试点验证规模化可行性。</a:t>
            </a:r>
          </a:p>
        </p:txBody>
      </p:sp>
    </p:spTree>
    <p:extLst>
      <p:ext uri="{BB962C8B-B14F-4D97-AF65-F5344CB8AC3E}">
        <p14:creationId xmlns:p14="http://schemas.microsoft.com/office/powerpoint/2010/main" val="9056544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2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A3BF2-F174-4AD4-9738-2A8A5126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4E0A5"/>
                </a:solidFill>
              </a:defRPr>
            </a:pPr>
            <a:r>
              <a:rPr sz="1950" b="1">
                <a:solidFill>
                  <a:srgbClr val="74E0A5"/>
                </a:solidFill>
              </a:rPr>
              <a:t>PayEase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816FE-135E-42A6-A863-34169402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809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把受薪员工的短期资金需求，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连接到合规、可运营的信贷协同网络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715A4-DBB8-439A-8863-CDA244C4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E0A5"/>
                </a:solidFill>
              </a:defRPr>
            </a:pPr>
            <a:r>
              <a:rPr sz="1500" b="1">
                <a:solidFill>
                  <a:srgbClr val="74E0A5"/>
                </a:solidFill>
              </a:rPr>
              <a:t>对投资方的核心判断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5F0EA-CB06-42D5-B52E-951328C6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49053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3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1315E-0585-4B5A-BB63-6B9CE2D4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E0A5"/>
                </a:solidFill>
              </a:defRPr>
            </a:pPr>
            <a:r>
              <a:rPr sz="1500" b="1">
                <a:solidFill>
                  <a:srgbClr val="74E0A5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83075-5F4F-48FD-B96C-BDBF059E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用户入口低摩擦：Telegram 内完成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4A932-3770-4E8A-8CB7-8AD99E63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05250"/>
            <a:ext cx="49053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3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E4437-3265-4EF0-8BA4-FE6A0672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48125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E0A5"/>
                </a:solidFill>
              </a:defRPr>
            </a:pPr>
            <a:r>
              <a:rPr sz="1500" b="1">
                <a:solidFill>
                  <a:srgbClr val="74E0A5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14E0E-7732-41E3-8C6F-45D84A6E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3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企业核验提升资料质量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B2787-F8E9-450F-BDB4-BAF89600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49053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3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EFFE4-4161-4EF5-99DB-FC984AD1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E0A5"/>
                </a:solidFill>
              </a:defRPr>
            </a:pPr>
            <a:r>
              <a:rPr sz="1500" b="1">
                <a:solidFill>
                  <a:srgbClr val="74E0A5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FBAFE-F4B7-4FD3-A15A-EA8769E8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持牌机构保留信贷与资金责任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7CBD3-5C7F-4D5F-8313-4EE36CA1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43450"/>
            <a:ext cx="49053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3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757D4E-D541-49D8-9AB2-5F5DB40F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86325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E0A5"/>
                </a:solidFill>
              </a:defRPr>
            </a:pPr>
            <a:r>
              <a:rPr sz="1500" b="1">
                <a:solidFill>
                  <a:srgbClr val="74E0A5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D8E4D-F245-43A9-9FF8-D068591E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76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以小范围试点验证运营模型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E407D5-1D5C-4C37-B4B4-90AF3862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5D9D4"/>
                </a:solidFill>
              </a:defRPr>
            </a:pPr>
            <a:r>
              <a:rPr sz="1425" b="0">
                <a:solidFill>
                  <a:srgbClr val="C5D9D4"/>
                </a:solidFill>
              </a:rPr>
              <a:t>下一阶段：完成合规、基础设施与合作方门槛后，启动 1 家机构、1–3 个工厂的受控试点。</a:t>
            </a:r>
          </a:p>
        </p:txBody>
      </p:sp>
    </p:spTree>
    <p:extLst>
      <p:ext uri="{BB962C8B-B14F-4D97-AF65-F5344CB8AC3E}">
        <p14:creationId xmlns:p14="http://schemas.microsoft.com/office/powerpoint/2010/main" val="18581551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2026-08-16T09:21:01.9830000Z</dcterms:created>
  <dcterms:modified xsi:type="dcterms:W3CDTF">2026-08-16T09:21:01.9830000Z</dcterms:modified>
</coreProperties>
</file>